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7" autoAdjust="0"/>
    <p:restoredTop sz="89277" autoAdjust="0"/>
  </p:normalViewPr>
  <p:slideViewPr>
    <p:cSldViewPr snapToGrid="0">
      <p:cViewPr varScale="1">
        <p:scale>
          <a:sx n="96" d="100"/>
          <a:sy n="96" d="100"/>
        </p:scale>
        <p:origin x="2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FDBFC-8D67-475A-8BD4-B276FFAB6E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527D8-AC0B-4918-BB26-9D99A630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1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ACK = a confirmation message that lets the device know “we received your data”. The device relies on that confirmation to know whether it needs to resend the message or move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ACK replay test, we’re checking whether the device trusts a replayed confirmation message even when the server never actually received the original data.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Configure the NB-IoT device to send confirmed uplink messages at a fixed time interval</a:t>
            </a:r>
          </a:p>
          <a:p>
            <a:pPr marL="228600" indent="-228600">
              <a:buAutoNum type="arabicParenR"/>
            </a:pPr>
            <a:r>
              <a:rPr lang="en-US" dirty="0"/>
              <a:t>Capture ACK traffic using packet capture tools </a:t>
            </a:r>
          </a:p>
          <a:p>
            <a:pPr marL="228600" indent="-228600">
              <a:buAutoNum type="arabicParenR"/>
            </a:pPr>
            <a:r>
              <a:rPr lang="en-US" dirty="0"/>
              <a:t>Temporarily block real ACKs from reaching the device</a:t>
            </a:r>
          </a:p>
          <a:p>
            <a:pPr marL="228600" indent="-228600">
              <a:buAutoNum type="arabicParenR"/>
            </a:pPr>
            <a:r>
              <a:rPr lang="en-US" dirty="0"/>
              <a:t>Replay previously captured ACK messages from the proxy (Raspberry Pi)</a:t>
            </a:r>
          </a:p>
          <a:p>
            <a:pPr marL="228600" indent="-228600">
              <a:buAutoNum type="arabicParenR"/>
            </a:pPr>
            <a:r>
              <a:rPr lang="en-US" dirty="0"/>
              <a:t>Observe whether the device accepts the replayed confirmation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27D8-AC0B-4918-BB26-9D99A63051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3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349F-82F5-5C9C-C186-782BA82C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45858-FD26-C1B1-789D-57A2EEDE8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120A3-4978-714A-A243-E8BB3AB6D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test allows us to quantify battery-life impact</a:t>
            </a:r>
          </a:p>
          <a:p>
            <a:pPr marL="0" indent="0">
              <a:buNone/>
            </a:pPr>
            <a:r>
              <a:rPr lang="en-US" dirty="0"/>
              <a:t>Testing to see whether replayed traffic can increase CPU activity, drain battery faster, and disrupt reporting cadence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proxy captures a legitimate downlink message, repeatedly replays it to the device, and we measure the resulting power consumption, wake cycles, and retry behavior.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Capture a legitimate downlink message that triggers device processing.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/>
              <a:t>Replay that message repeatedly from the gateway proxy at a controlled rate.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/>
              <a:t>Measure device response using logging tools and the USB power meter.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40627-54A5-E394-A17C-ED1FDDB93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27D8-AC0B-4918-BB26-9D99A63051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2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0428-094D-E515-260E-27FE59534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175CF-0091-107C-A51A-7A4045320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163E9-CC1B-E73D-F960-1B49CDFB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68C52-621D-8E6C-96B2-8374A800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2888B-EBC2-4BAF-1424-54502FA4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7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C1DC-3EE0-DE28-0201-6D071B75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BF7DD-DED8-BD0C-2106-ED01A2B6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912E0-231A-6BED-45EB-49851E5E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562F3-E854-1D7C-A546-5C506242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DED22-60AC-3EEF-EFCB-C1186224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3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6CAE-5BB4-1E90-1F57-995D4E1B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12765-1DC5-35EB-4805-335D1639F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6418-72CB-1D58-8773-4319BF2D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245B5-8560-B5C1-9A8C-150B1913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D8B6-2708-8469-55E3-8115F0E3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4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2D06-FDFB-BB29-9810-B3640AE5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D2066-9766-0698-2C80-DEC627164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F95E8-DB64-92DB-9210-C35CB3E4A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E3E50-A244-99FD-BDDC-E12D9D6E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44E6D-CC44-F198-60EF-2AF5227B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115CE-1D32-BF30-AB12-59BEEBF2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5B43-6F1B-7833-0FDA-7B425E42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B9173-0367-9582-6A82-61AF3A64E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F83A6-18A3-EDD5-780F-AE57F4FE0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B2E86-1003-83F7-DC0C-661829D6C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AE9DC-7EB0-9A16-BED4-0AE3DD8FF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4C639-1E12-F0F6-2F9F-323DB98D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D783B-D907-DC6E-E90D-84FBD124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51820-E2C9-0353-48BD-3F6979F3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9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B961-71AA-1412-2DE7-96129035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5F3F72-0E25-C38B-29BB-808949B39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FABC3-C98C-7BE9-7A70-93BC5F0E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4E33D-D15A-5497-F212-5812633C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0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3964A-58C5-D6AD-4956-C1C8C642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D32DB-73F1-ED28-76D2-9611C2A9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0220-4CE9-59CF-DC24-CCA61496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0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04BF-F5EC-5E55-CD3A-4EECF3AA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9538-64D9-05F2-6593-9CD7DD547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BA568-F4BA-519E-080C-97F482118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6CBA2-9C25-BAF3-C925-DE974D1B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9DA98-0CE9-06C2-12A4-54BEF303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04254-4D59-B01A-BA80-41B37D7B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3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9201-6DD4-44D0-6153-0CA733BB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0D27E-1D95-AF0E-A661-5DABADD18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2E703-83EE-9EB4-5D2F-28DBC09C3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149F0-8A17-7D43-5706-7B59FA4C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1676B-EB8D-A533-CD37-526BD90F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C974B-BC6E-F943-CE30-82088EBB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5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CDD5-2FF2-73BC-2E53-E1637242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3EC1D-978C-B801-9F66-8D9F5CE7D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3B318-A702-00C2-1F1C-D3ACE02E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D443-860D-57E7-212F-77334495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D9A1-6C41-B48A-E4B2-76B25990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AF7C1-96D2-F900-4C1D-ED17BC548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0A99C-52F5-AA4C-7658-97B1A3D38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D5D1-B679-F95A-EA2B-C7E3E5FA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ADA5E-26BF-42E7-22A1-6479F196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5A768-3B53-9FAA-5836-47F4AE1F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5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CC810-1DEE-663F-5A61-6184D7235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13A3D-1C18-3E1E-5836-73DE76A4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8D5A6-CBAE-4DF1-65BE-0C3163EE5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61995-5459-4661-936A-377DE50859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72CAB-1B73-D52B-2340-EED8556BA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34AA-D347-C638-A956-328F83DE5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42D27-9FFB-49F5-A6B1-1C588B18B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164F-381F-16C5-AEB5-D61F3CB0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0972800" cy="1325563"/>
          </a:xfrm>
        </p:spPr>
        <p:txBody>
          <a:bodyPr/>
          <a:lstStyle/>
          <a:p>
            <a:r>
              <a:rPr lang="en-US" dirty="0"/>
              <a:t>NB-IoT Test Procedure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031F-63C0-B10B-05FA-24401240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0688"/>
            <a:ext cx="109728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Goal:</a:t>
            </a:r>
            <a:r>
              <a:rPr lang="en-US" sz="2400" dirty="0"/>
              <a:t> to evaluate the operational security posture of </a:t>
            </a:r>
            <a:r>
              <a:rPr lang="en-US" sz="2400" b="1" dirty="0"/>
              <a:t>NB-IoT </a:t>
            </a:r>
            <a:r>
              <a:rPr lang="en-US" sz="2400" dirty="0"/>
              <a:t>compared to Mist by simulating replay-style attack scenarios in a controlled lab environment.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Focus:</a:t>
            </a:r>
            <a:r>
              <a:rPr lang="en-US" sz="2400" dirty="0"/>
              <a:t> observe protocol behavior under manipulation, specifically how devices respond when legitimate network messages are dropped, delayed, or replayed at a gateway level.</a:t>
            </a:r>
          </a:p>
          <a:p>
            <a:endParaRPr lang="en-US" sz="2400" dirty="0"/>
          </a:p>
          <a:p>
            <a:r>
              <a:rPr lang="en-US" sz="2400" b="1" dirty="0"/>
              <a:t>Measuring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Integrity of message delivery</a:t>
            </a:r>
          </a:p>
          <a:p>
            <a:pPr lvl="1"/>
            <a:r>
              <a:rPr lang="en-US" sz="2000" dirty="0"/>
              <a:t>Availability of device reporting</a:t>
            </a:r>
          </a:p>
          <a:p>
            <a:pPr lvl="1"/>
            <a:r>
              <a:rPr lang="en-US" sz="2000" dirty="0"/>
              <a:t>Battery/resource exhaustion risk</a:t>
            </a:r>
          </a:p>
          <a:p>
            <a:pPr lvl="1"/>
            <a:r>
              <a:rPr lang="en-US" sz="2000" dirty="0"/>
              <a:t>Operational cost impact</a:t>
            </a:r>
          </a:p>
        </p:txBody>
      </p:sp>
    </p:spTree>
    <p:extLst>
      <p:ext uri="{BB962C8B-B14F-4D97-AF65-F5344CB8AC3E}">
        <p14:creationId xmlns:p14="http://schemas.microsoft.com/office/powerpoint/2010/main" val="96327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33DE-302B-46A8-406D-1DD045A3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F389-8ADF-360A-BF05-B38F8360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0972800" cy="1325563"/>
          </a:xfrm>
        </p:spPr>
        <p:txBody>
          <a:bodyPr/>
          <a:lstStyle/>
          <a:p>
            <a:r>
              <a:rPr lang="en-US" dirty="0"/>
              <a:t>How Tests Will Be Conducted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7481F-9DF0-B793-1A1C-EFD326007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0688"/>
            <a:ext cx="109728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 test environment</a:t>
            </a:r>
            <a:r>
              <a:rPr lang="en-US" sz="2400" dirty="0"/>
              <a:t> will include:</a:t>
            </a:r>
          </a:p>
          <a:p>
            <a:r>
              <a:rPr lang="en-US" sz="2000" dirty="0"/>
              <a:t>NB-IoT dev kit (the device under test)</a:t>
            </a:r>
          </a:p>
          <a:p>
            <a:r>
              <a:rPr lang="en-US" sz="2000" dirty="0"/>
              <a:t>Raspberry Pi acting as a gateway proxy (controlled middleman layer between device &amp; server)</a:t>
            </a:r>
          </a:p>
          <a:p>
            <a:r>
              <a:rPr lang="en-US" sz="2000" dirty="0"/>
              <a:t>Linux VM for logging, packet capture, and replay tooling</a:t>
            </a:r>
          </a:p>
          <a:p>
            <a:r>
              <a:rPr lang="en-US" sz="2000" dirty="0"/>
              <a:t>USB inline power meter for battery/power measurement</a:t>
            </a:r>
          </a:p>
          <a:p>
            <a:r>
              <a:rPr lang="en-US" sz="2000" dirty="0"/>
              <a:t>Mist gateway + tags for comparison testing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Component is the Raspberry Pi Gateway</a:t>
            </a:r>
          </a:p>
          <a:p>
            <a:r>
              <a:rPr lang="en-US" sz="2000" dirty="0"/>
              <a:t>Allows us to safely simulate a compromised relay point by controlling traffic between the device and server</a:t>
            </a:r>
          </a:p>
        </p:txBody>
      </p:sp>
    </p:spTree>
    <p:extLst>
      <p:ext uri="{BB962C8B-B14F-4D97-AF65-F5344CB8AC3E}">
        <p14:creationId xmlns:p14="http://schemas.microsoft.com/office/powerpoint/2010/main" val="330881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4147-C8C0-8F80-E585-6B813AC6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6812-F8C7-7EA3-88B6-216F0763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55"/>
            <a:ext cx="10972800" cy="1325563"/>
          </a:xfrm>
        </p:spPr>
        <p:txBody>
          <a:bodyPr/>
          <a:lstStyle/>
          <a:p>
            <a:r>
              <a:rPr lang="en-US" dirty="0"/>
              <a:t>ACK Replay via Gateway 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B6E9-5429-EEDF-AEC2-0474BE769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43818"/>
            <a:ext cx="109728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Relay Spoofing and Fake Delivery Confirmation</a:t>
            </a:r>
          </a:p>
          <a:p>
            <a:pPr marL="0" indent="0">
              <a:buNone/>
            </a:pPr>
            <a:r>
              <a:rPr lang="en-US" sz="2000" dirty="0"/>
              <a:t>Integrity + Availability + Resource Exhaustion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96D54-44B8-AAA5-8BB0-B69FFE4CA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5" y="3093322"/>
            <a:ext cx="11277605" cy="2085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6B055-365F-008F-4E39-F6E56CB1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63071"/>
            <a:ext cx="1711013" cy="1247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AC216-4C15-00BD-C273-346986608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30660"/>
            <a:ext cx="1246064" cy="9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2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03B7-D745-3DB3-D3EE-82928138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E7CC-5941-3623-1EE8-72E13BAA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55"/>
            <a:ext cx="10972800" cy="1325563"/>
          </a:xfrm>
        </p:spPr>
        <p:txBody>
          <a:bodyPr/>
          <a:lstStyle/>
          <a:p>
            <a:r>
              <a:rPr lang="en-US" dirty="0"/>
              <a:t>Replay Flood Battery Exhaustion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6DDA6-FDE9-FFF6-B304-E41E146D1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43818"/>
            <a:ext cx="109728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Resilience Testing and Resource Exhaustion</a:t>
            </a:r>
          </a:p>
          <a:p>
            <a:pPr marL="0" indent="0">
              <a:buNone/>
            </a:pPr>
            <a:r>
              <a:rPr lang="en-US" sz="2000" dirty="0"/>
              <a:t>Availability + Denial of Service + Cost of Failure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5ED537-EA5A-9A93-8D7C-1D82B31E1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572701"/>
            <a:ext cx="11811000" cy="779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9A40C7-C61F-DA3B-8CC6-91009118E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036" y="2955076"/>
            <a:ext cx="779527" cy="617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BF1DF9-6777-1EE9-46A6-0ACDAB73E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913" y="3031702"/>
            <a:ext cx="1068930" cy="77952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267EA73-13AD-3B74-A26D-85DEA51F5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774" y="3011039"/>
            <a:ext cx="779526" cy="7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78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402</Words>
  <Application>Microsoft Office PowerPoint</Application>
  <PresentationFormat>Widescreen</PresentationFormat>
  <Paragraphs>46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NB-IoT Test Procedure Overview</vt:lpstr>
      <vt:lpstr>How Tests Will Be Conducted</vt:lpstr>
      <vt:lpstr>ACK Replay via Gateway Proxy</vt:lpstr>
      <vt:lpstr>Replay Flood Battery Exhaustion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Chiang, Ethan</dc:creator>
  <cp:lastModifiedBy>Chiang, Ethan</cp:lastModifiedBy>
  <cp:revision>1</cp:revision>
  <dcterms:created xsi:type="dcterms:W3CDTF">2026-02-09T16:40:12Z</dcterms:created>
  <dcterms:modified xsi:type="dcterms:W3CDTF">2026-02-09T17:28:35Z</dcterms:modified>
</cp:coreProperties>
</file>